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2497E0-8289-4A41-8696-FCA950E53FD3}">
  <a:tblStyle styleId="{8B2497E0-8289-4A41-8696-FCA950E53F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aa51acbc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faa51acbc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aa51acbc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8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DATA VISUALIZATION &amp; ANALYTICS  </a:t>
            </a:r>
            <a:r>
              <a:rPr b="1" lang="en-US" sz="130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3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  COURSE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E-Commerce Visual Analytics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Understanding Customer Satisfaction and Retention in a Brazilian E-Commerce Marketplace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AB2BD"/>
                </a:solidFill>
                <a:latin typeface="Calibri"/>
                <a:ea typeface="Calibri"/>
                <a:cs typeface="Calibri"/>
                <a:sym typeface="Calibri"/>
              </a:rPr>
              <a:t>Project Team </a:t>
            </a:r>
            <a:r>
              <a:rPr lang="en-US" sz="1250">
                <a:solidFill>
                  <a:srgbClr val="AAB2B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>
            <a:off x="548640" y="384048"/>
            <a:ext cx="9144000" cy="320100"/>
            <a:chOff x="0" y="0"/>
            <a:chExt cx="9144000" cy="320100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9144000" cy="32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 txBox="1"/>
            <p:nvPr/>
          </p:nvSpPr>
          <p:spPr>
            <a:xfrm>
              <a:off x="0" y="0"/>
              <a:ext cx="9144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PROJECT TEAM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4"/>
          <p:cNvGrpSpPr/>
          <p:nvPr/>
        </p:nvGrpSpPr>
        <p:grpSpPr>
          <a:xfrm>
            <a:off x="548640" y="685800"/>
            <a:ext cx="9144000" cy="571500"/>
            <a:chOff x="0" y="0"/>
            <a:chExt cx="9144000" cy="571500"/>
          </a:xfrm>
        </p:grpSpPr>
        <p:sp>
          <p:nvSpPr>
            <p:cNvPr id="29" name="Google Shape;29;p4"/>
            <p:cNvSpPr/>
            <p:nvPr/>
          </p:nvSpPr>
          <p:spPr>
            <a:xfrm>
              <a:off x="0" y="0"/>
              <a:ext cx="9144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0" y="0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Team</a:t>
              </a:r>
              <a:r>
                <a:rPr b="1" lang="en-US" sz="28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 8 Members</a:t>
              </a:r>
              <a:endParaRPr b="1" sz="28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31" name="Google Shape;31;p4"/>
          <p:cNvSpPr/>
          <p:nvPr/>
        </p:nvSpPr>
        <p:spPr>
          <a:xfrm>
            <a:off x="548640" y="1524000"/>
            <a:ext cx="3429000" cy="18096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12675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762000" y="1714500"/>
            <a:ext cx="3000300" cy="1428900"/>
            <a:chOff x="0" y="0"/>
            <a:chExt cx="3000300" cy="1428900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Tanisha Sushil</a:t>
              </a:r>
              <a:endParaRPr b="1" sz="17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22DS3000166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22ds3000166@ds.study.iitm.ac.in</a:t>
              </a:r>
              <a:endParaRPr sz="105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4"/>
          <p:cNvSpPr/>
          <p:nvPr/>
        </p:nvSpPr>
        <p:spPr>
          <a:xfrm>
            <a:off x="4381500" y="1524000"/>
            <a:ext cx="3429000" cy="18096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12675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4594860" y="1714500"/>
            <a:ext cx="3000300" cy="1428900"/>
            <a:chOff x="0" y="0"/>
            <a:chExt cx="3000300" cy="1428900"/>
          </a:xfrm>
        </p:grpSpPr>
        <p:sp>
          <p:nvSpPr>
            <p:cNvPr id="37" name="Google Shape;37;p4"/>
            <p:cNvSpPr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 txBox="1"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Ansh Rajani</a:t>
              </a:r>
              <a:endParaRPr b="1" sz="17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22F3000955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22f3000955@ds.study.iitm.ac.in</a:t>
              </a:r>
              <a:endParaRPr sz="105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8214360" y="1524000"/>
            <a:ext cx="3429000" cy="18096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12675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>
            <a:off x="8427720" y="1714500"/>
            <a:ext cx="3000300" cy="1428900"/>
            <a:chOff x="0" y="0"/>
            <a:chExt cx="3000300" cy="14289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Hitesh Binjrawat</a:t>
              </a:r>
              <a:endParaRPr b="1" sz="17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22F2001255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22f2001255@ds.study.iitm.ac.in</a:t>
              </a:r>
              <a:endParaRPr sz="105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/>
          <p:nvPr/>
        </p:nvSpPr>
        <p:spPr>
          <a:xfrm>
            <a:off x="2465070" y="3619500"/>
            <a:ext cx="3429000" cy="18096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12675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4"/>
          <p:cNvGrpSpPr/>
          <p:nvPr/>
        </p:nvGrpSpPr>
        <p:grpSpPr>
          <a:xfrm>
            <a:off x="2678430" y="3810000"/>
            <a:ext cx="3000300" cy="1428900"/>
            <a:chOff x="0" y="0"/>
            <a:chExt cx="3000300" cy="1428900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 txBox="1"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Hitesh</a:t>
              </a:r>
              <a:endParaRPr b="1" sz="17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22F2001256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22f2001256@ds.study.iitm.ac.in</a:t>
              </a:r>
              <a:endParaRPr sz="105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4"/>
          <p:cNvSpPr/>
          <p:nvPr/>
        </p:nvSpPr>
        <p:spPr>
          <a:xfrm>
            <a:off x="6297930" y="3619500"/>
            <a:ext cx="3429000" cy="18096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12675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6511290" y="3810000"/>
            <a:ext cx="3000300" cy="1428900"/>
            <a:chOff x="0" y="0"/>
            <a:chExt cx="3000300" cy="14289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0" y="0"/>
              <a:ext cx="3000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C2833"/>
                  </a:solidFill>
                  <a:latin typeface="Cambria"/>
                  <a:ea typeface="Cambria"/>
                  <a:cs typeface="Cambria"/>
                  <a:sym typeface="Cambria"/>
                </a:rPr>
                <a:t>Pratik Dey</a:t>
              </a:r>
              <a:endParaRPr b="1" sz="1700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C78A8"/>
                  </a:solidFill>
                  <a:latin typeface="Calibri"/>
                  <a:ea typeface="Calibri"/>
                  <a:cs typeface="Calibri"/>
                  <a:sym typeface="Calibri"/>
                </a:rPr>
                <a:t>21F2000710</a:t>
              </a:r>
              <a:endParaRPr b="1" sz="1200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21f2000710@ds.study.iitm.ac.in</a:t>
              </a:r>
              <a:endParaRPr sz="105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1002994" y="6446520"/>
            <a:ext cx="914400" cy="274200"/>
            <a:chOff x="0" y="0"/>
            <a:chExt cx="914400" cy="274200"/>
          </a:xfrm>
        </p:grpSpPr>
        <p:sp>
          <p:nvSpPr>
            <p:cNvPr id="52" name="Google Shape;52;p4"/>
            <p:cNvSpPr/>
            <p:nvPr/>
          </p:nvSpPr>
          <p:spPr>
            <a:xfrm>
              <a:off x="0" y="0"/>
              <a:ext cx="9144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 txBox="1"/>
            <p:nvPr/>
          </p:nvSpPr>
          <p:spPr>
            <a:xfrm>
              <a:off x="0" y="0"/>
              <a:ext cx="914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2E4053"/>
                  </a:solidFill>
                  <a:latin typeface="Calibri"/>
                  <a:ea typeface="Calibri"/>
                  <a:cs typeface="Calibri"/>
                  <a:sym typeface="Calibri"/>
                </a:rPr>
                <a:t>01 / 13</a:t>
              </a:r>
              <a:endParaRPr b="0" sz="9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48640" y="6858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Customers buy once. They rarely come back.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874520"/>
            <a:ext cx="3246120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822960" y="20116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D1495B"/>
                </a:solidFill>
                <a:latin typeface="Cambria"/>
                <a:ea typeface="Cambria"/>
                <a:cs typeface="Cambria"/>
                <a:sym typeface="Cambria"/>
              </a:rPr>
              <a:t>96.9%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22960" y="269748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of customers place exactly one order, ever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429000"/>
            <a:ext cx="3246120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822960" y="356616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A9D8F"/>
                </a:solidFill>
                <a:latin typeface="Cambria"/>
                <a:ea typeface="Cambria"/>
                <a:cs typeface="Cambria"/>
                <a:sym typeface="Cambria"/>
              </a:rPr>
              <a:t>3.1%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22960" y="425196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repeat-purchase rate across 96,096 customers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069080" y="1874520"/>
            <a:ext cx="3886200" cy="2971800"/>
          </a:xfrm>
          <a:prstGeom prst="roundRect">
            <a:avLst>
              <a:gd fmla="val 1846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4343400" y="2148840"/>
            <a:ext cx="33375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“The marketplace looks healthy on paper </a:t>
            </a:r>
            <a:r>
              <a:rPr i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4.16/5 average review, 93.3% on-time delivery. So why do so few customers ever come back, and where should the business intervene?”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229600" y="1874520"/>
            <a:ext cx="3429000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_repeat_customer_pie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1965960"/>
            <a:ext cx="31546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 txBox="1"/>
          <p:nvPr/>
        </p:nvSpPr>
        <p:spPr>
          <a:xfrm>
            <a:off x="8366760" y="4617720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Repeat vs. one-time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From raw data to a tested recommendation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187452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749808" y="2039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4C78A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749808" y="25877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749808" y="2953512"/>
            <a:ext cx="2203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Six raw tables cleaned — missing values and outliers handled explicitly, never silently imputed.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383280" y="187452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3584448" y="2039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4C78A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3584448" y="25877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584448" y="2953512"/>
            <a:ext cx="2203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Order, customer, seller, and category-level EDA to find where satisfaction breaks down.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217920" y="187452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6419088" y="2039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4C78A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6419088" y="25877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6419088" y="2953512"/>
            <a:ext cx="2203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Connect review complaints to specific states, sellers, and product categories.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052560" y="187452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9253728" y="20391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4C78A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9253728" y="25877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Recommend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9253728" y="2953512"/>
            <a:ext cx="2203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Size the affected customers and propose targeted, testable actions.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4297680"/>
            <a:ext cx="1110996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822960" y="44622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Datasets used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822960" y="4846320"/>
            <a:ext cx="50977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Master order table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95,830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Customer-level master table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96,096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Seller-level master table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3,095 sellers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377940" y="4846320"/>
            <a:ext cx="50063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Product category table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73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Marketing-funnel table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8,000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Sentiment- and topic-mined customer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Built on explicit cleaning decisions, not fabricated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548640" y="1965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1051560" y="19202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Missing review scores were dropped, not imputed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1051560" y="2450592"/>
            <a:ext cx="484632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A review score can’t be meaningfully guessed from other columns without fabricating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17920" y="1965960"/>
            <a:ext cx="329184" cy="329184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6217920" y="19659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6720840" y="19202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Outliers were capped, originals preserved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720840" y="2450592"/>
            <a:ext cx="484632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IQR-flagged outliers were written to separate _capped columns so sensitivity could be checked, not assumed away.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051560" y="39319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A known data-quality flag was surfaced, not hidden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051560" y="4462272"/>
            <a:ext cx="484632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active_seller_flag is True for 100% of sellers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it carries no signal and is excluded from every analysis 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17920" y="3977640"/>
            <a:ext cx="329184" cy="329184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6217920" y="39776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720840" y="39319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Placeholder values were recoded, not trusted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6720840" y="4462272"/>
            <a:ext cx="4846320" cy="116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95% of marketing-funnel “declared revenue” fields were unanswered-survey zeros </a:t>
            </a:r>
            <a:r>
              <a:rPr lang="en-US" sz="12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recoded to NaN with explicit has_declared_revenue flags.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04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rPr>
              <a:t>WHAT ARE THEY COMPLAINING ABOUT?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Delivery and product issues dominate negative reviews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48640" y="1828800"/>
            <a:ext cx="694944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_negative_review_topics.png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-31609" r="-31609" t="0"/>
          <a:stretch/>
        </p:blipFill>
        <p:spPr>
          <a:xfrm>
            <a:off x="-548950" y="2025275"/>
            <a:ext cx="9474875" cy="39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7726680" y="1828800"/>
            <a:ext cx="3931920" cy="4343400"/>
          </a:xfrm>
          <a:prstGeom prst="roundRect">
            <a:avLst>
              <a:gd fmla="val 1395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8001000" y="2103120"/>
            <a:ext cx="3383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Among one-time customers who left a negative review, delivery delay and product condition/damage are the two largest named complaint themes.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001000" y="3657600"/>
            <a:ext cx="3383280" cy="2286000"/>
          </a:xfrm>
          <a:prstGeom prst="roundRect">
            <a:avLst>
              <a:gd fmla="val 240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8229600" y="3840480"/>
            <a:ext cx="2926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These complaints alone don’t prove causation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the rest of this analysis tests whether they actually predict dissatisfaction and non-return.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05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WHERE IS DELIVERY BREAKING DOWN?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Two different delivery problems, not 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" y="1828800"/>
            <a:ext cx="667512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_late_rate_by_state_recompute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-28161" r="-28161" t="0"/>
          <a:stretch/>
        </p:blipFill>
        <p:spPr>
          <a:xfrm>
            <a:off x="-1100400" y="2016850"/>
            <a:ext cx="9738050" cy="39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7452360" y="1828800"/>
            <a:ext cx="4206240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7680960" y="19476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1495B"/>
                </a:solidFill>
                <a:latin typeface="Cambria"/>
                <a:ea typeface="Cambria"/>
                <a:cs typeface="Cambria"/>
                <a:sym typeface="Cambria"/>
              </a:rPr>
              <a:t>AL: 20.8% late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680960" y="235915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Small volume (394 orders) </a:t>
            </a:r>
            <a:r>
              <a:rPr lang="en-US" sz="105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a genuine reliability problem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452360" y="3246120"/>
            <a:ext cx="4206240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7680960" y="336499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1495B"/>
                </a:solidFill>
                <a:latin typeface="Cambria"/>
                <a:ea typeface="Cambria"/>
                <a:cs typeface="Cambria"/>
                <a:sym typeface="Cambria"/>
              </a:rPr>
              <a:t>RJ: 11.9% late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680960" y="377647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2nd-largest market (12,214 orders) </a:t>
            </a:r>
            <a:r>
              <a:rPr lang="en-US" sz="105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0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a reliability problem hiding inside a big market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7452360" y="4663440"/>
            <a:ext cx="4206240" cy="1508760"/>
          </a:xfrm>
          <a:prstGeom prst="roundRect">
            <a:avLst>
              <a:gd fmla="val 4848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7680960" y="4800600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SP handles the most orders (40,267) yet keeps a low 4.4% late rate </a:t>
            </a:r>
            <a:r>
              <a:rPr lang="en-US" sz="125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2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proof that high volume doesn’t have to mean poor reliability.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06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SUPPLY 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Seller density explains some states — not all of them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48640" y="1828800"/>
            <a:ext cx="548640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_sellers_by_state_recompute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-13218" r="-13218" t="0"/>
          <a:stretch/>
        </p:blipFill>
        <p:spPr>
          <a:xfrm>
            <a:off x="253175" y="2011675"/>
            <a:ext cx="5965649" cy="39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6309360" y="1828800"/>
            <a:ext cx="5349240" cy="233172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" name="Google Shape;167;p10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{8B2497E0-8289-4A41-8696-FCA950E53FD3}</a:tableStyleId>
              </a:tblPr>
              <a:tblGrid>
                <a:gridCol w="1508750"/>
                <a:gridCol w="1097275"/>
                <a:gridCol w="1188725"/>
                <a:gridCol w="1188725"/>
              </a:tblGrid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Sellers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Late-delivery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833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1495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14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RJ (3rd-most)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1495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14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1495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14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12,214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1495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14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(benchmark)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1,849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40,267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40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E40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3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10"/>
          <p:cNvSpPr/>
          <p:nvPr/>
        </p:nvSpPr>
        <p:spPr>
          <a:xfrm>
            <a:off x="6309360" y="4343400"/>
            <a:ext cx="5349240" cy="1828800"/>
          </a:xfrm>
          <a:prstGeom prst="roundRect">
            <a:avLst>
              <a:gd fmla="val 300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6537960" y="4526280"/>
            <a:ext cx="4892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Growing the seller base is a good lever for MA / PI / CE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each has just a handful of local sellers. But </a:t>
            </a:r>
            <a:r>
              <a:rPr b="1" i="0" lang="en-US" sz="12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RJ already has a deep seller base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still runs a high late rate, so its problem is more likely logistics or carrier-side.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07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WHO AND WHAT DRIVES QUALITY COMPLAINTS?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A small, identifiable group drives most quality issues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48653" y="1796800"/>
            <a:ext cx="5312400" cy="35205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777240" y="196596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Top sellers by quality-issue rate (&gt;100 deliveries)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_top10_quality_sellers_recompute.png"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-36505" r="-36505" t="0"/>
          <a:stretch/>
        </p:blipFill>
        <p:spPr>
          <a:xfrm>
            <a:off x="-774525" y="2331725"/>
            <a:ext cx="8193175" cy="28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6217920" y="1828800"/>
            <a:ext cx="5440800" cy="35205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6446520" y="196596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Top categories by quality-issue rate (≥500 orders)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_top10_quality_categories.png"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-36508" r="-36508" t="0"/>
          <a:stretch/>
        </p:blipFill>
        <p:spPr>
          <a:xfrm>
            <a:off x="4802600" y="2331725"/>
            <a:ext cx="7795474" cy="28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548640" y="5486400"/>
            <a:ext cx="11109960" cy="868680"/>
          </a:xfrm>
          <a:prstGeom prst="roundRect">
            <a:avLst>
              <a:gd fmla="val 6316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822960" y="5605272"/>
            <a:ext cx="10561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Highest-risk categories are mostly bulky or fragile goods (furniture, luggage, home goods)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exactly where damage-in-transit is most likely. Both point to targeted fixes, not a blanket policy.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08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8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78A8"/>
                </a:solidFill>
                <a:latin typeface="Calibri"/>
                <a:ea typeface="Calibri"/>
                <a:cs typeface="Calibri"/>
                <a:sym typeface="Calibri"/>
              </a:rPr>
              <a:t>WHERE DO SELLERS COME FROM?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Acquisition volume and conversion quality diverge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48640" y="1828800"/>
            <a:ext cx="795528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777240" y="196596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Conversion rate by channel (left) &amp; business-type mix among converted sellers (right)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9279700" y="1828800"/>
            <a:ext cx="2379000" cy="1874400"/>
          </a:xfrm>
          <a:prstGeom prst="roundRect">
            <a:avLst>
              <a:gd fmla="val 2927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9449325" y="1965950"/>
            <a:ext cx="198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10.5%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9449400" y="2697475"/>
            <a:ext cx="198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C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overall lead-to-seller conversion (842 of 8,000 leads)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279724" y="3817600"/>
            <a:ext cx="2379000" cy="23316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9394000" y="4000500"/>
            <a:ext cx="21504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Reseller : Manufacturer ≈ 2 :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among converted sellers. High-volume channels (social, email) convert well below average.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09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25" y="1784725"/>
            <a:ext cx="9045949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SIZING THE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548640" y="6858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Who should we fix this for, first?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48640" y="1828800"/>
            <a:ext cx="795528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777240" y="196596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Revenue share (left) &amp; average late-delivery rate (right) by value × satisfaction segment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_customer_quadrants.png"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-55128" r="-55128" t="0"/>
          <a:stretch/>
        </p:blipFill>
        <p:spPr>
          <a:xfrm>
            <a:off x="-2096550" y="2423150"/>
            <a:ext cx="13099524" cy="35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/>
          <p:nvPr/>
        </p:nvSpPr>
        <p:spPr>
          <a:xfrm>
            <a:off x="8732520" y="1828800"/>
            <a:ext cx="2926080" cy="1737360"/>
          </a:xfrm>
          <a:prstGeom prst="roundRect">
            <a:avLst>
              <a:gd fmla="val 3158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8961120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~4,200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8961120" y="26060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CE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high-value &amp; unhappy customers </a:t>
            </a:r>
            <a:r>
              <a:rPr lang="en-US" sz="1100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1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 11.3% of total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8732520" y="3703320"/>
            <a:ext cx="2926080" cy="246888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8961120" y="388620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8× higher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late-delivery rate (26%) versus equally valuable, satisfied customers (3%). Fixing their delivery experience protects real revenue without a platform-wide overhaul.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Five targeted actions, ordered by leverage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548640" y="1920240"/>
            <a:ext cx="342900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749808" y="2121408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749808" y="21214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1371600" y="21031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Delivery-promise SLA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1371600" y="25420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Protect the high-value-unhappy cohort first </a:t>
            </a:r>
            <a:r>
              <a:rPr lang="en-US" sz="11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delivery delay is the clearest driver at every level.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178808" y="1920240"/>
            <a:ext cx="342900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4379976" y="2121408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4379976" y="21214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5001768" y="21031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Targeted quality program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5001768" y="25420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Audit the small group of high-issue sellers; set packaging standards for bulky/fragile categories.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7808976" y="1920240"/>
            <a:ext cx="342900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8010144" y="2121408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 txBox="1"/>
          <p:nvPr/>
        </p:nvSpPr>
        <p:spPr>
          <a:xfrm>
            <a:off x="8010144" y="21214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8631936" y="21031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Regional logistics fix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8631936" y="25420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Focus on AL / MA / PI (low seller density); investigate RJ’s carrier/logistics issue separately.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363724" y="3749040"/>
            <a:ext cx="342900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2564892" y="3950208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2564892" y="39502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3186684" y="39319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Second-order retention nudge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3186684" y="43708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Conditioned on a clean first delivery </a:t>
            </a:r>
            <a:r>
              <a:rPr lang="en-US" sz="110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that’s where the platform loses a customer for good.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5993892" y="3749040"/>
            <a:ext cx="342900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6195060" y="3950208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6195060" y="39502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6816852" y="39319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Revisit acquisition mix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6816852" y="4370832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Reallocate spend away from high-volume, low-conversion channels (social, email).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Ordered by leverage, not by ease </a:t>
            </a:r>
            <a:r>
              <a:rPr b="1" i="1" lang="en-US" sz="1250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i="1" lang="en-US" sz="12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2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delivery fixes come first because the evidence for them is strongest at every level of the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C2833"/>
                </a:solidFill>
                <a:latin typeface="Cambria"/>
                <a:ea typeface="Cambria"/>
                <a:cs typeface="Cambria"/>
                <a:sym typeface="Cambria"/>
              </a:rPr>
              <a:t>What this analysis can and can’t claim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548640" y="18288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Observational, not experimental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548640" y="221284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No finding here is a controlled causal estimate </a:t>
            </a:r>
            <a:r>
              <a:rPr lang="en-US" sz="1150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 see the note on causality below.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6217920" y="18288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Fixed observation window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6217920" y="221284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The 3.1% repeat rate is a lower bound: customers who joined late had less time to re-order.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548640" y="324612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Small-sample segments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548640" y="363016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3+-seller orders (59), sellers with &gt;100 deliveries, and the two middle delay bands are directional, not statistically precise.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6217920" y="324612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Calibri"/>
                <a:ea typeface="Calibri"/>
                <a:cs typeface="Calibri"/>
                <a:sym typeface="Calibri"/>
              </a:rPr>
              <a:t>Marketing-funnel revenue is largely unusable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6217920" y="363016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Only 5.3% of converted deals carry a genuine declared-revenue figure; the rest are recoded placeholders.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48640" y="4892040"/>
            <a:ext cx="11109960" cy="1463040"/>
          </a:xfrm>
          <a:prstGeom prst="roundRect">
            <a:avLst>
              <a:gd fmla="val 375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822960" y="5056632"/>
            <a:ext cx="10561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A note on causality: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delay correlates strongly and consistently with dissatisfaction across order, customer, and seller levels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the strongest evidence a purely observational analysis can offer. But a seller or customer with unrelated problems could show both delay and dissatisfaction independently, without one causing the other. These recommendations are the best-supported next actions to </a:t>
            </a: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operationally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not settled facts to act on blindly.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405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4053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83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 txBox="1"/>
          <p:nvPr/>
        </p:nvSpPr>
        <p:spPr>
          <a:xfrm>
            <a:off x="822960" y="128016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Delivery reliability is the lever.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Fix it for the right 4,200 customers first.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822960" y="2880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DCE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Every table, every level of analysis pointed the same direction </a:t>
            </a:r>
            <a:r>
              <a:rPr lang="en-US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1400" u="none" cap="none" strike="noStrike">
                <a:solidFill>
                  <a:srgbClr val="D8DCE2"/>
                </a:solidFill>
                <a:latin typeface="Calibri"/>
                <a:ea typeface="Calibri"/>
                <a:cs typeface="Calibri"/>
                <a:sym typeface="Calibri"/>
              </a:rPr>
              <a:t> and now it’s sized, prioritized, and ready to test.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822960" y="3977640"/>
            <a:ext cx="3520440" cy="1234440"/>
          </a:xfrm>
          <a:prstGeom prst="roundRect">
            <a:avLst>
              <a:gd fmla="val 5185" name="adj"/>
            </a:avLst>
          </a:prstGeom>
          <a:solidFill>
            <a:srgbClr val="2E4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1051560" y="41422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CODE 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1051560" y="44805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github.com/Hiteshpanghal900/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ecommerce-visual-analytics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4572000" y="3977640"/>
            <a:ext cx="3520440" cy="1234440"/>
          </a:xfrm>
          <a:prstGeom prst="roundRect">
            <a:avLst>
              <a:gd fmla="val 5185" name="adj"/>
            </a:avLst>
          </a:prstGeom>
          <a:solidFill>
            <a:srgbClr val="2E4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4800600" y="41422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TECHNICAL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4800600" y="44805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report/technical_report.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8321040" y="3977640"/>
            <a:ext cx="3520440" cy="1234440"/>
          </a:xfrm>
          <a:prstGeom prst="roundRect">
            <a:avLst>
              <a:gd fmla="val 5185" name="adj"/>
            </a:avLst>
          </a:prstGeom>
          <a:solidFill>
            <a:srgbClr val="2E4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8549640" y="41422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8549640" y="44805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dashboard/app.py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questions welcome.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